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4"/>
  </p:notesMasterIdLst>
  <p:handoutMasterIdLst>
    <p:handoutMasterId r:id="rId15"/>
  </p:handoutMasterIdLst>
  <p:sldIdLst>
    <p:sldId id="257" r:id="rId2"/>
    <p:sldId id="301" r:id="rId3"/>
    <p:sldId id="266" r:id="rId4"/>
    <p:sldId id="272" r:id="rId5"/>
    <p:sldId id="282" r:id="rId6"/>
    <p:sldId id="304" r:id="rId7"/>
    <p:sldId id="286" r:id="rId8"/>
    <p:sldId id="306" r:id="rId9"/>
    <p:sldId id="307" r:id="rId10"/>
    <p:sldId id="308" r:id="rId11"/>
    <p:sldId id="309" r:id="rId12"/>
    <p:sldId id="3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3810" autoAdjust="0"/>
  </p:normalViewPr>
  <p:slideViewPr>
    <p:cSldViewPr snapToGrid="0" showGuides="1">
      <p:cViewPr>
        <p:scale>
          <a:sx n="52" d="100"/>
          <a:sy n="52" d="100"/>
        </p:scale>
        <p:origin x="1872" y="7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21560963-1EEA-4BDE-8FF9-3FEE13B5D43C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69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3464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131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727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92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2ABD-C052-4D3A-818B-C58AFC20B321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639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FC9B1-6F61-4A8F-9F5E-715654075A93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31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415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2F34-49A1-4C07-91D5-90BE967306D3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9299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075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678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506076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7001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0464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2704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3728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41275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E55E5-7E1C-4243-A685-91A6EB8BE97F}" type="datetime1">
              <a:rPr lang="en-US" smtClean="0"/>
              <a:t>8/10/2026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15361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6890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2489-DC9C-40A3-89C4-AFC56B3B0CAB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2139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F4C9-1C82-4616-8D26-0B0587291200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3254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C42AE-61C6-458B-86C3-22D39A5E8956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7316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71BEE-9C65-4D84-970B-0B47E929926B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7772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435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AF51-4D04-4E0C-B33D-81940CAB4B07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7788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BFCF2-BE01-43CB-85B3-49CC0FE55050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18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66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572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75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2884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3891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905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757A7B-FDC6-BF10-FF15-4C5D4B327C4D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EE1D3-F1D2-C9AF-9455-7A5A0D33368C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1" r:id="rId31"/>
    <p:sldLayoutId id="2147483812" r:id="rId32"/>
    <p:sldLayoutId id="2147483649" r:id="rId33"/>
    <p:sldLayoutId id="2147483661" r:id="rId34"/>
    <p:sldLayoutId id="2147483662" r:id="rId35"/>
    <p:sldLayoutId id="2147483663" r:id="rId36"/>
    <p:sldLayoutId id="2147483664" r:id="rId37"/>
    <p:sldLayoutId id="2147483665" r:id="rId38"/>
    <p:sldLayoutId id="2147483666" r:id="rId39"/>
    <p:sldLayoutId id="2147483667" r:id="rId40"/>
    <p:sldLayoutId id="2147483669" r:id="rId41"/>
    <p:sldLayoutId id="2147483670" r:id="rId42"/>
    <p:sldLayoutId id="2147483671" r:id="rId43"/>
    <p:sldLayoutId id="2147483672" r:id="rId44"/>
    <p:sldLayoutId id="2147483674" r:id="rId45"/>
    <p:sldLayoutId id="2147483675" r:id="rId46"/>
    <p:sldLayoutId id="2147483676" r:id="rId47"/>
    <p:sldLayoutId id="2147483677" r:id="rId48"/>
    <p:sldLayoutId id="2147483655" r:id="rId49"/>
    <p:sldLayoutId id="2147483678" r:id="rId50"/>
    <p:sldLayoutId id="2147483679" r:id="rId51"/>
    <p:sldLayoutId id="2147483680" r:id="rId52"/>
    <p:sldLayoutId id="2147483653" r:id="rId53"/>
    <p:sldLayoutId id="2147483682" r:id="rId54"/>
    <p:sldLayoutId id="2147483683" r:id="rId55"/>
    <p:sldLayoutId id="2147483685" r:id="rId56"/>
    <p:sldLayoutId id="2147483654" r:id="rId57"/>
    <p:sldLayoutId id="2147483687" r:id="rId58"/>
    <p:sldLayoutId id="2147483689" r:id="rId59"/>
    <p:sldLayoutId id="2147483688" r:id="rId60"/>
    <p:sldLayoutId id="2147483691" r:id="rId61"/>
    <p:sldLayoutId id="2147483692" r:id="rId62"/>
    <p:sldLayoutId id="2147483693" r:id="rId63"/>
    <p:sldLayoutId id="2147483694" r:id="rId64"/>
    <p:sldLayoutId id="2147483696" r:id="rId65"/>
    <p:sldLayoutId id="2147483698" r:id="rId66"/>
    <p:sldLayoutId id="2147483699" r:id="rId67"/>
    <p:sldLayoutId id="2147483700" r:id="rId68"/>
    <p:sldLayoutId id="2147483701" r:id="rId69"/>
    <p:sldLayoutId id="2147483702" r:id="rId70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  <p15:guide id="32" orient="horz" pos="164">
          <p15:clr>
            <a:srgbClr val="F26B43"/>
          </p15:clr>
        </p15:guide>
        <p15:guide id="33" pos="234">
          <p15:clr>
            <a:srgbClr val="F26B43"/>
          </p15:clr>
        </p15:guide>
        <p15:guide id="34" orient="horz" pos="4133">
          <p15:clr>
            <a:srgbClr val="F26B43"/>
          </p15:clr>
        </p15:guide>
        <p15:guide id="35" pos="7491">
          <p15:clr>
            <a:srgbClr val="F26B43"/>
          </p15:clr>
        </p15:guide>
        <p15:guide id="36" orient="horz" pos="640">
          <p15:clr>
            <a:srgbClr val="F26B43"/>
          </p15:clr>
        </p15:guide>
        <p15:guide id="37" orient="horz" pos="777">
          <p15:clr>
            <a:srgbClr val="F26B43"/>
          </p15:clr>
        </p15:guide>
        <p15:guide id="38" orient="horz" pos="4020">
          <p15:clr>
            <a:srgbClr val="F26B43"/>
          </p15:clr>
        </p15:guide>
        <p15:guide id="39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F455A9FF-BC97-E2DA-26AC-559F7162EF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66" r="20666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2117558"/>
            <a:ext cx="4986338" cy="265764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ptos"/>
              </a:rPr>
              <a:t>RAILWAY</a:t>
            </a:r>
            <a:br>
              <a:rPr lang="en-IN" dirty="0"/>
            </a:br>
            <a:r>
              <a:rPr lang="en-IN" dirty="0">
                <a:latin typeface="Aptos"/>
              </a:rPr>
              <a:t>PASSENGER</a:t>
            </a:r>
            <a:br>
              <a:rPr lang="en-IN" dirty="0"/>
            </a:br>
            <a:r>
              <a:rPr lang="en-IN" dirty="0">
                <a:latin typeface="Aptos"/>
              </a:rPr>
              <a:t>ANALYTICS</a:t>
            </a:r>
            <a:br>
              <a:rPr lang="en-IN" dirty="0">
                <a:solidFill>
                  <a:srgbClr val="0A2D50"/>
                </a:solidFill>
                <a:latin typeface="Aptos"/>
              </a:rPr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800" y="4927600"/>
            <a:ext cx="5506200" cy="976311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Aptos"/>
              </a:rPr>
              <a:t>Presented by: Prathamesh Balu Patil</a:t>
            </a:r>
          </a:p>
          <a:p>
            <a:br>
              <a:rPr lang="en-US" dirty="0"/>
            </a:br>
            <a:r>
              <a:rPr lang="en-US" dirty="0">
                <a:latin typeface="Aptos"/>
              </a:rPr>
              <a:t>Excel • SQL • Power BI • Power Query • DAX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8CE31ED-6997-57CA-154A-6681801B1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380" y="4927600"/>
            <a:ext cx="10538847" cy="976311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RAILWAY DATA  →  CLEANING  →  ANALYSIS  →  VISUALIZATION  →  INSIGHTS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B9570-8101-95FC-5735-E6DE8C60B9C9}"/>
              </a:ext>
            </a:extLst>
          </p:cNvPr>
          <p:cNvSpPr txBox="1"/>
          <p:nvPr/>
        </p:nvSpPr>
        <p:spPr>
          <a:xfrm>
            <a:off x="801605" y="198021"/>
            <a:ext cx="6104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ptos"/>
              </a:rPr>
              <a:t>Introduction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4143D9-5E02-D10A-A135-1644AF16DD2E}"/>
              </a:ext>
            </a:extLst>
          </p:cNvPr>
          <p:cNvSpPr/>
          <p:nvPr/>
        </p:nvSpPr>
        <p:spPr>
          <a:xfrm>
            <a:off x="608283" y="1548253"/>
            <a:ext cx="5317959" cy="1106906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32D3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Centralized Railway View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32D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Provides a single view of passenger volume, bookings, fares, train information and station activity.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136024-85A5-3500-530D-38D75619656F}"/>
              </a:ext>
            </a:extLst>
          </p:cNvPr>
          <p:cNvSpPr/>
          <p:nvPr/>
        </p:nvSpPr>
        <p:spPr>
          <a:xfrm>
            <a:off x="608283" y="3491143"/>
            <a:ext cx="5343838" cy="1106905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Decision Support</a:t>
            </a:r>
            <a:br>
              <a:rPr lang="en-US" dirty="0"/>
            </a:br>
            <a:r>
              <a:rPr lang="en-US" sz="1400" dirty="0">
                <a:solidFill>
                  <a:srgbClr val="232D37"/>
                </a:solidFill>
                <a:latin typeface="Aptos"/>
              </a:rPr>
              <a:t>Helps identify passenger patterns, busy zones, popular classes and operational opportunities</a:t>
            </a:r>
            <a:r>
              <a:rPr lang="en-US" dirty="0">
                <a:solidFill>
                  <a:srgbClr val="232D37"/>
                </a:solidFill>
                <a:latin typeface="Aptos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7E3FF8-990F-C9B7-962C-4643FF587AE4}"/>
              </a:ext>
            </a:extLst>
          </p:cNvPr>
          <p:cNvSpPr/>
          <p:nvPr/>
        </p:nvSpPr>
        <p:spPr>
          <a:xfrm>
            <a:off x="6096000" y="1531178"/>
            <a:ext cx="5317959" cy="1123981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Train &amp; Passenger Analysis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Connects passenger records with train information to </a:t>
            </a:r>
            <a:r>
              <a:rPr lang="en-IN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analyze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routes, zones, classes and coaches.</a:t>
            </a: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674784B-A904-8522-12E4-1EE821915841}"/>
              </a:ext>
            </a:extLst>
          </p:cNvPr>
          <p:cNvSpPr/>
          <p:nvPr/>
        </p:nvSpPr>
        <p:spPr>
          <a:xfrm>
            <a:off x="6239879" y="3491143"/>
            <a:ext cx="5343838" cy="1106906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Interactive Analysis</a:t>
            </a:r>
            <a:br>
              <a:rPr lang="en-IN" dirty="0"/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Uses KPI cards, charts and slicers for dynamic exploration of railway passenger data</a:t>
            </a:r>
          </a:p>
        </p:txBody>
      </p:sp>
    </p:spTree>
    <p:extLst>
      <p:ext uri="{BB962C8B-B14F-4D97-AF65-F5344CB8AC3E}">
        <p14:creationId xmlns:p14="http://schemas.microsoft.com/office/powerpoint/2010/main" val="75776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378" y="3267757"/>
            <a:ext cx="127732" cy="45719"/>
          </a:xfrm>
        </p:spPr>
        <p:txBody>
          <a:bodyPr/>
          <a:lstStyle/>
          <a:p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z="1400" smtClean="0"/>
              <a:t>3</a:t>
            </a:fld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48A523-4CB8-F738-7131-663C325E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3" y="585926"/>
            <a:ext cx="6722956" cy="517458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D5F86D-7F42-E24E-CDCC-59B743FDE8D3}"/>
              </a:ext>
            </a:extLst>
          </p:cNvPr>
          <p:cNvSpPr/>
          <p:nvPr/>
        </p:nvSpPr>
        <p:spPr>
          <a:xfrm>
            <a:off x="7080913" y="2298090"/>
            <a:ext cx="4144374" cy="122812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>
                <a:solidFill>
                  <a:schemeClr val="tx1"/>
                </a:solidFill>
                <a:latin typeface="Aptos" panose="020B0004020202020204" pitchFamily="34" charset="0"/>
              </a:rPr>
              <a:t>Passenger_Data</a:t>
            </a:r>
            <a:b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Stores passenger details such as Passenger ID, PNR Number, Passenger Name, Age, Gender, Booking Status, Class, Coach, Journey Date and Fare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58610C-77F1-FA29-A2D7-36FF7688D79D}"/>
              </a:ext>
            </a:extLst>
          </p:cNvPr>
          <p:cNvSpPr/>
          <p:nvPr/>
        </p:nvSpPr>
        <p:spPr>
          <a:xfrm>
            <a:off x="7080914" y="523498"/>
            <a:ext cx="4144373" cy="12281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>
                <a:solidFill>
                  <a:schemeClr val="tx1"/>
                </a:solidFill>
                <a:latin typeface="Aptos" panose="020B0004020202020204" pitchFamily="34" charset="0"/>
              </a:rPr>
              <a:t>Train_Info</a:t>
            </a:r>
            <a:b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Stores train details such as Train Number, Train Type, Station information, Train Zone, Distance, Duration and Departure Time.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175A13-84F1-EC58-1F8B-847F9D4B2469}"/>
              </a:ext>
            </a:extLst>
          </p:cNvPr>
          <p:cNvSpPr/>
          <p:nvPr/>
        </p:nvSpPr>
        <p:spPr>
          <a:xfrm>
            <a:off x="7080914" y="4203916"/>
            <a:ext cx="4144373" cy="12281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Key Field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Train_Number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is the common key used to connect both tables.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359143-CE48-C7C9-867E-A12A7C9A047E}"/>
              </a:ext>
            </a:extLst>
          </p:cNvPr>
          <p:cNvSpPr txBox="1"/>
          <p:nvPr/>
        </p:nvSpPr>
        <p:spPr>
          <a:xfrm>
            <a:off x="-103774" y="6075817"/>
            <a:ext cx="5463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ptos" panose="020B0004020202020204" pitchFamily="34" charset="0"/>
              </a:rPr>
              <a:t>     Data Model Structure</a:t>
            </a:r>
            <a:r>
              <a:rPr lang="en-IN" sz="1200" dirty="0"/>
              <a:t>: </a:t>
            </a:r>
            <a:r>
              <a:rPr lang="en-IN" sz="1200" b="1" dirty="0" err="1">
                <a:latin typeface="Aptos" panose="020B0004020202020204" pitchFamily="34" charset="0"/>
              </a:rPr>
              <a:t>Passenger_Data</a:t>
            </a:r>
            <a:r>
              <a:rPr lang="en-IN" sz="1200" b="1" dirty="0">
                <a:latin typeface="Aptos" panose="020B0004020202020204" pitchFamily="34" charset="0"/>
              </a:rPr>
              <a:t> → </a:t>
            </a:r>
            <a:r>
              <a:rPr lang="en-IN" sz="1200" b="1" dirty="0" err="1">
                <a:latin typeface="Aptos" panose="020B0004020202020204" pitchFamily="34" charset="0"/>
              </a:rPr>
              <a:t>Train_Info</a:t>
            </a:r>
            <a:r>
              <a:rPr lang="en-IN" sz="1200" b="1" dirty="0">
                <a:latin typeface="Aptos" panose="020B0004020202020204" pitchFamily="34" charset="0"/>
              </a:rPr>
              <a:t> | Many-to-One (*:1)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594A58-1D16-35AE-7EB0-8353ACBFB311}"/>
              </a:ext>
            </a:extLst>
          </p:cNvPr>
          <p:cNvSpPr txBox="1"/>
          <p:nvPr/>
        </p:nvSpPr>
        <p:spPr>
          <a:xfrm>
            <a:off x="341802" y="85953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Data Model Structure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369BA-1716-7485-8471-25D5066D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99" y="1320173"/>
            <a:ext cx="2638793" cy="120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3B662E-E124-62FD-0064-E535DDB12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8" y="1320173"/>
            <a:ext cx="2534004" cy="12193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9DC63E-4039-79DF-F3C7-74ABAD617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109" y="1320173"/>
            <a:ext cx="2695951" cy="1257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02F3D1-4E78-838A-F411-721DBED5F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959" y="1320173"/>
            <a:ext cx="2629267" cy="11812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2B9A44-6277-A017-99E8-27E6A52798D6}"/>
              </a:ext>
            </a:extLst>
          </p:cNvPr>
          <p:cNvSpPr txBox="1"/>
          <p:nvPr/>
        </p:nvSpPr>
        <p:spPr>
          <a:xfrm>
            <a:off x="558584" y="418455"/>
            <a:ext cx="34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ptos" panose="020B0004020202020204" pitchFamily="34" charset="0"/>
              </a:rPr>
              <a:t>Measures / KPI Cards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E00E3-9E4C-42FF-2E90-DEAEF9C8C7D3}"/>
              </a:ext>
            </a:extLst>
          </p:cNvPr>
          <p:cNvSpPr txBox="1"/>
          <p:nvPr/>
        </p:nvSpPr>
        <p:spPr>
          <a:xfrm>
            <a:off x="5842861" y="40373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6B0B4B-BD89-3F7B-7446-1E3F7EB83F0E}"/>
              </a:ext>
            </a:extLst>
          </p:cNvPr>
          <p:cNvSpPr/>
          <p:nvPr/>
        </p:nvSpPr>
        <p:spPr>
          <a:xfrm>
            <a:off x="158074" y="3050219"/>
            <a:ext cx="5467811" cy="134838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🚆 Total Trains</a:t>
            </a:r>
          </a:p>
          <a:p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Formula: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COUNT(</a:t>
            </a:r>
            <a:r>
              <a:rPr lang="en-IN" sz="1400" b="1" dirty="0" err="1">
                <a:solidFill>
                  <a:schemeClr val="tx1"/>
                </a:solidFill>
                <a:latin typeface="Aptos" panose="020B0004020202020204" pitchFamily="34" charset="0"/>
              </a:rPr>
              <a:t>Train_Number</a:t>
            </a: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)</a:t>
            </a:r>
            <a:br>
              <a:rPr lang="en-IN" sz="1400" dirty="0">
                <a:solidFill>
                  <a:srgbClr val="FFFF00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Counts the total number of train records available in the </a:t>
            </a:r>
            <a:r>
              <a:rPr lang="en-IN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Train_Info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dataset. It provides an overall measure of the train volume covered in the analysis.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CA5CFC-12D9-7F12-0B01-B86E189969B3}"/>
              </a:ext>
            </a:extLst>
          </p:cNvPr>
          <p:cNvSpPr/>
          <p:nvPr/>
        </p:nvSpPr>
        <p:spPr>
          <a:xfrm>
            <a:off x="6259109" y="3050219"/>
            <a:ext cx="5481670" cy="134838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🎂 Average Age</a:t>
            </a:r>
          </a:p>
          <a:p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Formula: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AVERAGE(Age)</a:t>
            </a:r>
            <a:b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Calculates the average age of passengers in the dataset. It helps identify the general age profile of railway passengers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9AB79C-6319-918A-0BFF-10994ACDF727}"/>
              </a:ext>
            </a:extLst>
          </p:cNvPr>
          <p:cNvSpPr/>
          <p:nvPr/>
        </p:nvSpPr>
        <p:spPr>
          <a:xfrm>
            <a:off x="6294894" y="4947388"/>
            <a:ext cx="5481670" cy="134689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💰  Average Fare</a:t>
            </a:r>
          </a:p>
          <a:p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Formula: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AVERAGE(Fare)</a:t>
            </a:r>
            <a:b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Calculates the average ticket fare paid by passengers. It helps understand the typical fare value across different classes, trains and passenger segments.</a:t>
            </a:r>
          </a:p>
          <a:p>
            <a:endParaRPr lang="en-IN" sz="14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FC3191-38F3-1D20-4BC2-847E6C198727}"/>
              </a:ext>
            </a:extLst>
          </p:cNvPr>
          <p:cNvSpPr/>
          <p:nvPr/>
        </p:nvSpPr>
        <p:spPr>
          <a:xfrm>
            <a:off x="178136" y="4963584"/>
            <a:ext cx="5467811" cy="134838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👥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Total Passengers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Formula: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COUNT(</a:t>
            </a:r>
            <a:r>
              <a:rPr lang="en-IN" sz="1400" b="1" dirty="0" err="1">
                <a:solidFill>
                  <a:schemeClr val="tx1"/>
                </a:solidFill>
                <a:latin typeface="Aptos" panose="020B0004020202020204" pitchFamily="34" charset="0"/>
              </a:rPr>
              <a:t>Passenger_ID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)</a:t>
            </a:r>
            <a:b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Counts all passenger records available in the </a:t>
            </a:r>
            <a:r>
              <a:rPr lang="en-IN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Passenger_Data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table. This KPI represents the overall passenger volume used for analysis.</a:t>
            </a:r>
            <a:endParaRPr lang="en-IN" sz="14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  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EF82A5F-9572-ECE8-F890-0DEC19777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302" y="1347523"/>
            <a:ext cx="3546729" cy="23255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C29C92-6762-3A0F-BFE6-BF442783D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016" y="1347523"/>
            <a:ext cx="3546729" cy="232557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8E1ED2-20F4-2474-3C27-5BF244A2B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01" y="1347524"/>
            <a:ext cx="3546729" cy="23255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3EEE9F-19E2-8C80-1243-709375FA7148}"/>
              </a:ext>
            </a:extLst>
          </p:cNvPr>
          <p:cNvSpPr txBox="1"/>
          <p:nvPr/>
        </p:nvSpPr>
        <p:spPr>
          <a:xfrm>
            <a:off x="317716" y="488197"/>
            <a:ext cx="378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Passenger Distribution Analysis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B2D2CA-08FD-F2CD-813B-0E1602E2B2BA}"/>
              </a:ext>
            </a:extLst>
          </p:cNvPr>
          <p:cNvSpPr/>
          <p:nvPr/>
        </p:nvSpPr>
        <p:spPr>
          <a:xfrm>
            <a:off x="219758" y="3928821"/>
            <a:ext cx="3448372" cy="10073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🥧 Passenger by Booking Status</a:t>
            </a:r>
            <a:br>
              <a:rPr lang="en-IN" sz="1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Shows the distribution of passengers based on their booking status, such as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Confirmed, RAC, and Waiting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25E9640-E7B1-1976-3A6F-3A454FA1EC91}"/>
              </a:ext>
            </a:extLst>
          </p:cNvPr>
          <p:cNvSpPr/>
          <p:nvPr/>
        </p:nvSpPr>
        <p:spPr>
          <a:xfrm>
            <a:off x="8276194" y="3928821"/>
            <a:ext cx="3448372" cy="10073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🥧 Passenger by Gender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Highlights the passenger composition across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Male, Female, and Other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 categories.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A4D560-ADBC-BDCC-EDA5-FB4B5D711B6E}"/>
              </a:ext>
            </a:extLst>
          </p:cNvPr>
          <p:cNvSpPr/>
          <p:nvPr/>
        </p:nvSpPr>
        <p:spPr>
          <a:xfrm>
            <a:off x="4197659" y="3928821"/>
            <a:ext cx="3448372" cy="10073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🍩 Passenger by Train Type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Shows how passengers are distributed across different </a:t>
            </a: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</a:rPr>
              <a:t>train types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, helping identify the most-used train 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categories</a:t>
            </a:r>
            <a:r>
              <a:rPr lang="en-IN" sz="1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AB04DB7-D322-D237-09FE-6EBE01AFF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06" y="648071"/>
            <a:ext cx="11043821" cy="572161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BABA95-010B-0A5C-C773-0C646C4A3414}"/>
              </a:ext>
            </a:extLst>
          </p:cNvPr>
          <p:cNvSpPr txBox="1"/>
          <p:nvPr/>
        </p:nvSpPr>
        <p:spPr>
          <a:xfrm>
            <a:off x="186430" y="186431"/>
            <a:ext cx="7244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Railway Passenger Analytics — Overview Dashboard</a:t>
            </a:r>
          </a:p>
        </p:txBody>
      </p:sp>
    </p:spTree>
    <p:extLst>
      <p:ext uri="{BB962C8B-B14F-4D97-AF65-F5344CB8AC3E}">
        <p14:creationId xmlns:p14="http://schemas.microsoft.com/office/powerpoint/2010/main" val="373557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Passenger &amp; Train Trends</a:t>
            </a:r>
            <a:endParaRPr lang="en-US" b="1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5BC7E-DFF9-364E-9B31-15417E71F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98" y="1371038"/>
            <a:ext cx="5625342" cy="22245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5EED08-E84D-FF2D-3121-8E14B22C174A}"/>
              </a:ext>
            </a:extLst>
          </p:cNvPr>
          <p:cNvSpPr txBox="1"/>
          <p:nvPr/>
        </p:nvSpPr>
        <p:spPr>
          <a:xfrm>
            <a:off x="371474" y="3794498"/>
            <a:ext cx="5582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Passenger by Train Zone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Chart Type</a:t>
            </a:r>
            <a:r>
              <a:rPr lang="en-IN" b="1" dirty="0">
                <a:latin typeface="Aptos" panose="020B0004020202020204" pitchFamily="34" charset="0"/>
              </a:rPr>
              <a:t>:</a:t>
            </a:r>
            <a:r>
              <a:rPr lang="en-IN" dirty="0">
                <a:latin typeface="Aptos" panose="020B0004020202020204" pitchFamily="34" charset="0"/>
              </a:rPr>
              <a:t> Horizontal Bar Chart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Purpose</a:t>
            </a:r>
            <a:r>
              <a:rPr lang="en-IN" b="1" dirty="0">
                <a:latin typeface="Aptos" panose="020B0004020202020204" pitchFamily="34" charset="0"/>
              </a:rPr>
              <a:t>:</a:t>
            </a:r>
            <a:r>
              <a:rPr lang="en-IN" dirty="0">
                <a:latin typeface="Aptos" panose="020B0004020202020204" pitchFamily="34" charset="0"/>
              </a:rPr>
              <a:t> Compares the total passenger volume    across different railway zones.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Analysis: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</a:rPr>
              <a:t>Helps identify which railway zones handle the highest passenger traffic.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Key Insight</a:t>
            </a:r>
            <a:r>
              <a:rPr lang="en-IN" b="1" dirty="0">
                <a:latin typeface="Aptos" panose="020B0004020202020204" pitchFamily="34" charset="0"/>
              </a:rPr>
              <a:t>:</a:t>
            </a:r>
            <a:r>
              <a:rPr lang="en-IN" dirty="0">
                <a:latin typeface="Aptos" panose="020B0004020202020204" pitchFamily="34" charset="0"/>
              </a:rPr>
              <a:t> SR records the highest passenger volume, followed by NR and WR in the displayed dashboard.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81DF78A-1DAE-7360-D6B5-38F0B92A4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62" y="1371038"/>
            <a:ext cx="5582066" cy="222453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B40E37F-E9EA-D2C0-CD35-19F04C2E38EA}"/>
              </a:ext>
            </a:extLst>
          </p:cNvPr>
          <p:cNvSpPr txBox="1"/>
          <p:nvPr/>
        </p:nvSpPr>
        <p:spPr>
          <a:xfrm>
            <a:off x="6454066" y="3794498"/>
            <a:ext cx="51499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Passenger by Coach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Chart Type: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</a:rPr>
              <a:t>Horizontal Bar Chart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Purpose: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</a:rPr>
              <a:t>Shows passenger distribution across different coaches.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Analysis</a:t>
            </a:r>
            <a:r>
              <a:rPr lang="en-IN" b="1" dirty="0">
                <a:latin typeface="Aptos" panose="020B0004020202020204" pitchFamily="34" charset="0"/>
              </a:rPr>
              <a:t>:</a:t>
            </a:r>
            <a:r>
              <a:rPr lang="en-IN" dirty="0">
                <a:latin typeface="Aptos" panose="020B0004020202020204" pitchFamily="34" charset="0"/>
              </a:rPr>
              <a:t> Helps compare coach-wise passenger demand and identify coaches with higher occupancy.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Key Insight: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</a:rPr>
              <a:t>H9 and D1 show relatively higher passenger volumes among the displayed coaches.</a:t>
            </a:r>
          </a:p>
        </p:txBody>
      </p:sp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4AC99-CAB2-A7CC-300D-994AAA5B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3F26AC5-3321-78BF-A9D6-B3578A54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Passenger Distribution Analysis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ACA36F-7217-963C-AB36-A3443788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D5041-9540-0028-0E79-C5E75F23D946}"/>
              </a:ext>
            </a:extLst>
          </p:cNvPr>
          <p:cNvSpPr txBox="1"/>
          <p:nvPr/>
        </p:nvSpPr>
        <p:spPr>
          <a:xfrm>
            <a:off x="371474" y="3794498"/>
            <a:ext cx="55820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ptos" panose="020B0004020202020204" pitchFamily="34" charset="0"/>
              </a:rPr>
              <a:t>Passenger by Class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Chart Type: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Column Chart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Purpose: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Compares passenger volume across different travel classes.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Analysis</a:t>
            </a:r>
            <a:r>
              <a:rPr lang="en-IN" sz="1600" b="1" dirty="0">
                <a:latin typeface="Aptos" panose="020B0004020202020204" pitchFamily="34" charset="0"/>
              </a:rPr>
              <a:t>:</a:t>
            </a:r>
            <a:r>
              <a:rPr lang="en-IN" sz="1600" dirty="0">
                <a:latin typeface="Aptos" panose="020B0004020202020204" pitchFamily="34" charset="0"/>
              </a:rPr>
              <a:t> Helps understand passenger preference and demand across classes such as 1A, 2A, 3A, SL, 2S and CC.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Key Insight: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Passenger volumes are relatively close across the displayed classes, indicating a broad distribution of passengers across different travel categories.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ACC8BA-BB54-FF17-FB77-233FB679C5D1}"/>
              </a:ext>
            </a:extLst>
          </p:cNvPr>
          <p:cNvSpPr txBox="1"/>
          <p:nvPr/>
        </p:nvSpPr>
        <p:spPr>
          <a:xfrm>
            <a:off x="6359631" y="3794497"/>
            <a:ext cx="51499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Passenger by State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Chart Type: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Horizontal Bar Chart</a:t>
            </a:r>
            <a:br>
              <a:rPr lang="en-IN" sz="1600" dirty="0"/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Purpose: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Compares passenger volume across different states.</a:t>
            </a:r>
            <a:br>
              <a:rPr lang="en-IN" sz="1600" dirty="0"/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Analysis: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Helps identify states contributing the highest number of railway passengers.</a:t>
            </a:r>
            <a:br>
              <a:rPr lang="en-IN" sz="1600" dirty="0"/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Key Insight: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Maharashtra and Madhya Pradesh show high passenger volumes among the displayed states.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396C2-00BD-8D03-A7DB-E6373393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4" y="1292982"/>
            <a:ext cx="5653500" cy="2224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7CABA1-548F-FBE4-1644-88492D421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96" y="1273264"/>
            <a:ext cx="5582066" cy="226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90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768A-BD13-44C5-9D40-C0A63FD2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D0096A2-5BD6-962C-7C7B-C0FCB3B2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 &amp; Station Performance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93EF84-5DEC-EACE-D17E-0F9378A9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88283-DAE9-577B-146A-F0B5AE69AF76}"/>
              </a:ext>
            </a:extLst>
          </p:cNvPr>
          <p:cNvSpPr txBox="1"/>
          <p:nvPr/>
        </p:nvSpPr>
        <p:spPr>
          <a:xfrm>
            <a:off x="371474" y="3794498"/>
            <a:ext cx="5582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ptos" panose="020B0004020202020204" pitchFamily="34" charset="0"/>
              </a:rPr>
              <a:t>Passenger by Station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Chart Type: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Horizontal Bar Chart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Purpose</a:t>
            </a:r>
            <a:r>
              <a:rPr lang="en-IN" sz="1600" b="1" dirty="0">
                <a:latin typeface="Aptos" panose="020B0004020202020204" pitchFamily="34" charset="0"/>
              </a:rPr>
              <a:t>:</a:t>
            </a:r>
            <a:r>
              <a:rPr lang="en-IN" sz="1600" dirty="0">
                <a:latin typeface="Aptos" panose="020B0004020202020204" pitchFamily="34" charset="0"/>
              </a:rPr>
              <a:t> Compares passenger volume across different railway stations.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Analysis: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Helps identify stations with higher passenger activity and demand.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Key Insight: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The displayed dashboard shows </a:t>
            </a:r>
            <a:r>
              <a:rPr lang="en-IN" sz="1600" b="1" dirty="0">
                <a:latin typeface="Aptos" panose="020B0004020202020204" pitchFamily="34" charset="0"/>
              </a:rPr>
              <a:t>BILIMORA JN, OLD DELHI and VALSAD</a:t>
            </a:r>
            <a:r>
              <a:rPr lang="en-IN" sz="1600" dirty="0">
                <a:latin typeface="Aptos" panose="020B0004020202020204" pitchFamily="34" charset="0"/>
              </a:rPr>
              <a:t> among the highest passenger-volume stations.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4E2E0-8557-18DE-F73C-364E77632F70}"/>
              </a:ext>
            </a:extLst>
          </p:cNvPr>
          <p:cNvSpPr txBox="1"/>
          <p:nvPr/>
        </p:nvSpPr>
        <p:spPr>
          <a:xfrm>
            <a:off x="6359631" y="3794496"/>
            <a:ext cx="565350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ptos" panose="020B0004020202020204" pitchFamily="34" charset="0"/>
              </a:rPr>
              <a:t>Passenger by Train Type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Chart Type: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Doughnut Chart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Purpose: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Shows the distribution of passengers across different train types.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Analysis: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dirty="0">
                <a:latin typeface="Aptos" panose="020B0004020202020204" pitchFamily="34" charset="0"/>
              </a:rPr>
              <a:t>Helps understand which train categories contribute most to total passenger volume.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Key Insight: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b="1" dirty="0">
                <a:latin typeface="Aptos" panose="020B0004020202020204" pitchFamily="34" charset="0"/>
              </a:rPr>
              <a:t>Express (Exp)</a:t>
            </a:r>
            <a:r>
              <a:rPr lang="en-IN" sz="1600" dirty="0">
                <a:latin typeface="Aptos" panose="020B0004020202020204" pitchFamily="34" charset="0"/>
              </a:rPr>
              <a:t> has the largest share among the displayed train types.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FD3B9-EB28-66EE-598F-BAD00ACBA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1289327"/>
            <a:ext cx="5582067" cy="2231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A148F6-CFC4-D17B-B1F5-E38678CB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97" y="1289327"/>
            <a:ext cx="5653502" cy="223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5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9688-E3A4-6144-6E32-51CCB913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63" y="258038"/>
            <a:ext cx="11520487" cy="755649"/>
          </a:xfrm>
        </p:spPr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Overall Passenger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30CBC-5675-7228-6731-41E5FD1F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3972" y="6384815"/>
            <a:ext cx="457200" cy="338328"/>
          </a:xfrm>
        </p:spPr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CA0890-6AB1-D934-E1FC-517C96496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027488"/>
              </p:ext>
            </p:extLst>
          </p:nvPr>
        </p:nvGraphicFramePr>
        <p:xfrm>
          <a:off x="269605" y="1134031"/>
          <a:ext cx="8119794" cy="51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98">
                  <a:extLst>
                    <a:ext uri="{9D8B030D-6E8A-4147-A177-3AD203B41FA5}">
                      <a16:colId xmlns:a16="http://schemas.microsoft.com/office/drawing/2014/main" val="1967472449"/>
                    </a:ext>
                  </a:extLst>
                </a:gridCol>
                <a:gridCol w="2706598">
                  <a:extLst>
                    <a:ext uri="{9D8B030D-6E8A-4147-A177-3AD203B41FA5}">
                      <a16:colId xmlns:a16="http://schemas.microsoft.com/office/drawing/2014/main" val="323598364"/>
                    </a:ext>
                  </a:extLst>
                </a:gridCol>
                <a:gridCol w="2706598">
                  <a:extLst>
                    <a:ext uri="{9D8B030D-6E8A-4147-A177-3AD203B41FA5}">
                      <a16:colId xmlns:a16="http://schemas.microsoft.com/office/drawing/2014/main" val="3607986405"/>
                    </a:ext>
                  </a:extLst>
                </a:gridCol>
              </a:tblGrid>
              <a:tr h="41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Analysis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Key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36334"/>
                  </a:ext>
                </a:extLst>
              </a:tr>
              <a:tr h="811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Train Zone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SR has the highest displayed passenger 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052773"/>
                  </a:ext>
                </a:extLst>
              </a:tr>
              <a:tr h="651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Train Type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Express has the largest displayed 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74"/>
                  </a:ext>
                </a:extLst>
              </a:tr>
              <a:tr h="5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Coach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H9 and D1 show high passenger volumes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778729"/>
                  </a:ext>
                </a:extLst>
              </a:tr>
              <a:tr h="811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Class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volume is distributed across major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194449"/>
                  </a:ext>
                </a:extLst>
              </a:tr>
              <a:tr h="811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State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Maharashtra and Madhya Pradesh show high volumes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38158"/>
                  </a:ext>
                </a:extLst>
              </a:tr>
              <a:tr h="1055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Aptos" panose="020B0004020202020204" pitchFamily="34" charset="0"/>
                        </a:rPr>
                        <a:t>Station</a:t>
                      </a:r>
                      <a:endParaRPr lang="en-IN" sz="160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ptos" panose="020B0004020202020204" pitchFamily="34" charset="0"/>
                        </a:rPr>
                        <a:t>Passenger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Aptos" panose="020B0004020202020204" pitchFamily="34" charset="0"/>
                        </a:rPr>
                        <a:t>Bilimora</a:t>
                      </a:r>
                      <a:r>
                        <a:rPr lang="en-IN" sz="1600" dirty="0">
                          <a:latin typeface="Aptos" panose="020B0004020202020204" pitchFamily="34" charset="0"/>
                        </a:rPr>
                        <a:t> JN, Old Delhi and Valsad are among the displayed high-volume stations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243444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B8ECC0-8E41-591D-3BBF-57B17AA1AE0E}"/>
              </a:ext>
            </a:extLst>
          </p:cNvPr>
          <p:cNvSpPr/>
          <p:nvPr/>
        </p:nvSpPr>
        <p:spPr>
          <a:xfrm>
            <a:off x="9012738" y="1350082"/>
            <a:ext cx="2769833" cy="755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400" b="1" dirty="0">
                <a:latin typeface="Aptos" panose="020B0004020202020204" pitchFamily="34" charset="0"/>
              </a:rPr>
              <a:t>🏆 Highest Passenger Zone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b="1" dirty="0">
                <a:latin typeface="Aptos" panose="020B0004020202020204" pitchFamily="34" charset="0"/>
              </a:rPr>
              <a:t>SR</a:t>
            </a:r>
            <a:r>
              <a:rPr lang="en-IN" sz="1400" dirty="0">
                <a:latin typeface="Aptos" panose="020B0004020202020204" pitchFamily="34" charset="0"/>
              </a:rPr>
              <a:t> — 535.8K displayed passengers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A15A3C-8148-D807-D8E7-361EB329010F}"/>
              </a:ext>
            </a:extLst>
          </p:cNvPr>
          <p:cNvSpPr/>
          <p:nvPr/>
        </p:nvSpPr>
        <p:spPr>
          <a:xfrm>
            <a:off x="9012739" y="2356910"/>
            <a:ext cx="2769833" cy="755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400" b="1" dirty="0">
                <a:latin typeface="Aptos" panose="020B0004020202020204" pitchFamily="34" charset="0"/>
              </a:rPr>
              <a:t>🚆 Leading Train Type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b="1" dirty="0">
                <a:latin typeface="Aptos" panose="020B0004020202020204" pitchFamily="34" charset="0"/>
              </a:rPr>
              <a:t>Express (Exp)</a:t>
            </a:r>
            <a:r>
              <a:rPr lang="en-IN" sz="1400" dirty="0">
                <a:latin typeface="Aptos" panose="020B0004020202020204" pitchFamily="34" charset="0"/>
              </a:rPr>
              <a:t> — largest displayed share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663D3E-E4D5-E38C-B12D-9CE61EFFE8FD}"/>
              </a:ext>
            </a:extLst>
          </p:cNvPr>
          <p:cNvSpPr/>
          <p:nvPr/>
        </p:nvSpPr>
        <p:spPr>
          <a:xfrm>
            <a:off x="9012739" y="3445076"/>
            <a:ext cx="2769833" cy="755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600" b="1" dirty="0">
                <a:latin typeface="Aptos" panose="020B0004020202020204" pitchFamily="34" charset="0"/>
              </a:rPr>
              <a:t>👥 High-Volume Coach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</a:rPr>
              <a:t>H9</a:t>
            </a:r>
            <a:r>
              <a:rPr lang="en-IN" sz="1600" dirty="0">
                <a:latin typeface="Aptos" panose="020B0004020202020204" pitchFamily="34" charset="0"/>
              </a:rPr>
              <a:t> — 64.11K displayed passengers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780AB9-9A9E-8DF6-57AF-4685FA696110}"/>
              </a:ext>
            </a:extLst>
          </p:cNvPr>
          <p:cNvSpPr/>
          <p:nvPr/>
        </p:nvSpPr>
        <p:spPr>
          <a:xfrm>
            <a:off x="8966444" y="4455782"/>
            <a:ext cx="2769833" cy="755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600" b="1" dirty="0">
                <a:latin typeface="Aptos" panose="020B0004020202020204" pitchFamily="34" charset="0"/>
              </a:rPr>
              <a:t>📍 High-Volume State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</a:rPr>
              <a:t>Maharashtra</a:t>
            </a:r>
            <a:r>
              <a:rPr lang="en-IN" sz="1600" dirty="0">
                <a:latin typeface="Aptos" panose="020B0004020202020204" pitchFamily="34" charset="0"/>
              </a:rPr>
              <a:t> — 129.23K displayed passengers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CFB4E1-207C-BE66-3D46-84F1D02983F3}"/>
              </a:ext>
            </a:extLst>
          </p:cNvPr>
          <p:cNvSpPr/>
          <p:nvPr/>
        </p:nvSpPr>
        <p:spPr>
          <a:xfrm>
            <a:off x="8966445" y="5534142"/>
            <a:ext cx="2769833" cy="755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600" b="1" dirty="0">
                <a:latin typeface="Aptos" panose="020B0004020202020204" pitchFamily="34" charset="0"/>
              </a:rPr>
              <a:t>🚉 High-Volume Station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b="1" dirty="0" err="1">
                <a:latin typeface="Aptos" panose="020B0004020202020204" pitchFamily="34" charset="0"/>
              </a:rPr>
              <a:t>Bilimora</a:t>
            </a:r>
            <a:r>
              <a:rPr lang="en-IN" sz="1600" b="1" dirty="0">
                <a:latin typeface="Aptos" panose="020B0004020202020204" pitchFamily="34" charset="0"/>
              </a:rPr>
              <a:t> JN</a:t>
            </a:r>
            <a:r>
              <a:rPr lang="en-IN" sz="1600" dirty="0">
                <a:latin typeface="Aptos" panose="020B0004020202020204" pitchFamily="34" charset="0"/>
              </a:rPr>
              <a:t> — 1.91K displayed passengers</a:t>
            </a:r>
          </a:p>
        </p:txBody>
      </p:sp>
    </p:spTree>
    <p:extLst>
      <p:ext uri="{BB962C8B-B14F-4D97-AF65-F5344CB8AC3E}">
        <p14:creationId xmlns:p14="http://schemas.microsoft.com/office/powerpoint/2010/main" val="67352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EEF2-33B8-D60A-C9C1-508FF7C8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Aptos" panose="020B0004020202020204" pitchFamily="34" charset="0"/>
              </a:rPr>
              <a:t>Key Findings, Recommendations &amp; 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876203-B5B7-3283-09C8-C91D7481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2BBA01-B42E-1B23-3930-F5715A05BFFB}"/>
              </a:ext>
            </a:extLst>
          </p:cNvPr>
          <p:cNvSpPr/>
          <p:nvPr/>
        </p:nvSpPr>
        <p:spPr>
          <a:xfrm>
            <a:off x="559294" y="1343608"/>
            <a:ext cx="4678532" cy="7556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Passenger Demand</a:t>
            </a:r>
          </a:p>
          <a:p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Passenger volume varies across railway zones, states, coaches and stations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F108A9-917C-ABE8-02F7-580E64F0697A}"/>
              </a:ext>
            </a:extLst>
          </p:cNvPr>
          <p:cNvSpPr/>
          <p:nvPr/>
        </p:nvSpPr>
        <p:spPr>
          <a:xfrm>
            <a:off x="6559118" y="2503233"/>
            <a:ext cx="4678532" cy="7556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High-Demand Coach</a:t>
            </a:r>
          </a:p>
          <a:p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H9 and D1 show relatively high passenger volumes in the displayed analysis.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793EB7-DA25-58C2-A29B-FBD6EF87FF71}"/>
              </a:ext>
            </a:extLst>
          </p:cNvPr>
          <p:cNvSpPr/>
          <p:nvPr/>
        </p:nvSpPr>
        <p:spPr>
          <a:xfrm>
            <a:off x="559294" y="5671397"/>
            <a:ext cx="10868911" cy="7556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Conclusion</a:t>
            </a:r>
          </a:p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The Railway Passenger Analytics Dashboard transforms passenger and train data into meaningful insights for understanding demand patterns and improving operational decision-making.</a:t>
            </a:r>
            <a:endParaRPr lang="en-IN" sz="1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4815B4-B541-2253-74DB-5730D937FEDC}"/>
              </a:ext>
            </a:extLst>
          </p:cNvPr>
          <p:cNvSpPr/>
          <p:nvPr/>
        </p:nvSpPr>
        <p:spPr>
          <a:xfrm>
            <a:off x="559294" y="3593368"/>
            <a:ext cx="4758430" cy="96087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State &amp; Station</a:t>
            </a:r>
          </a:p>
          <a:p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Maharashtra and Madhya Pradesh show high state-wise passenger volume, while </a:t>
            </a:r>
            <a:r>
              <a:rPr lang="en-IN" sz="1400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Bilimora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JN, Old Delhi and Valsad appear among the displayed high-volume 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stations.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6079AC-4D43-4CC4-BE4A-A3A085260329}"/>
              </a:ext>
            </a:extLst>
          </p:cNvPr>
          <p:cNvSpPr/>
          <p:nvPr/>
        </p:nvSpPr>
        <p:spPr>
          <a:xfrm>
            <a:off x="6477739" y="3593368"/>
            <a:ext cx="4950466" cy="9479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Data-Driven Planning</a:t>
            </a:r>
          </a:p>
          <a:p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The dashboard helps identify passenger patterns and supports better railway capacity and demand planning</a:t>
            </a:r>
            <a:r>
              <a:rPr lang="en-IN" sz="1400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8EDA85-E4DD-B1AC-A93F-80E67031C3C7}"/>
              </a:ext>
            </a:extLst>
          </p:cNvPr>
          <p:cNvSpPr/>
          <p:nvPr/>
        </p:nvSpPr>
        <p:spPr>
          <a:xfrm>
            <a:off x="6477739" y="1288815"/>
            <a:ext cx="4678532" cy="7556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Train Type</a:t>
            </a:r>
          </a:p>
          <a:p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Express trains contribute the largest displayed share of passenger volume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CCB457-CD13-5EE4-B69C-611940281CE6}"/>
              </a:ext>
            </a:extLst>
          </p:cNvPr>
          <p:cNvSpPr/>
          <p:nvPr/>
        </p:nvSpPr>
        <p:spPr>
          <a:xfrm>
            <a:off x="559294" y="2468488"/>
            <a:ext cx="4678532" cy="7556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High-Demand Zone</a:t>
            </a:r>
          </a:p>
          <a:p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SR shows the highest passenger volume among the displayed railway zones</a:t>
            </a:r>
            <a:r>
              <a:rPr lang="en-IN" dirty="0"/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CC32BF-14E8-8CB2-64A0-630631E986E1}"/>
              </a:ext>
            </a:extLst>
          </p:cNvPr>
          <p:cNvSpPr/>
          <p:nvPr/>
        </p:nvSpPr>
        <p:spPr>
          <a:xfrm>
            <a:off x="559294" y="4753859"/>
            <a:ext cx="10868911" cy="7556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Recommendations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Use the dashboard insights to monitor high-demand zones, coaches and stations, improve capacity planning, and support data-driven railway operations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3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CBB25D-F6F6-8673-4914-201C44A9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71B86A-0B0B-CE09-B7D9-9930320B3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99669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251</TotalTime>
  <Words>1068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Neue Haas Grotesk Text Pro</vt:lpstr>
      <vt:lpstr>Wingdings</vt:lpstr>
      <vt:lpstr>Dune</vt:lpstr>
      <vt:lpstr>RAILWAY PASSENGER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Passenger &amp; Train Trends</vt:lpstr>
      <vt:lpstr>Passenger Distribution Analysis</vt:lpstr>
      <vt:lpstr>Train &amp; Station Performance</vt:lpstr>
      <vt:lpstr>Overall Passenger Comparison</vt:lpstr>
      <vt:lpstr>Key Findings, Recommendations &amp;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prathamesh patil</dc:creator>
  <cp:lastModifiedBy>prathamesh patil</cp:lastModifiedBy>
  <cp:revision>1</cp:revision>
  <dcterms:created xsi:type="dcterms:W3CDTF">2026-08-10T17:05:34Z</dcterms:created>
  <dcterms:modified xsi:type="dcterms:W3CDTF">2026-08-10T21:16:58Z</dcterms:modified>
</cp:coreProperties>
</file>